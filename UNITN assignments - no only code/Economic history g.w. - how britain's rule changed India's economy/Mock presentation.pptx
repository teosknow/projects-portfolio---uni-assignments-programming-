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2" name="Enrico Romano Blasi"/>
  <p:cmAuthor clrIdx="1" id="1" initials="" lastIdx="1" name="Utente eliminato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4-12-03T16:07:38.919">
    <p:pos x="6000" y="0"/>
    <p:text>What does this mean?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1" dt="2024-12-05T12:55:48.498">
    <p:pos x="196" y="280"/>
    <p:text>Woudn´t do a extra slide for aim... just explain it in the presentation
1 total reaction
Enrico Romano Blasi reacted with 👍 at 2024-12-03 16:07 PM</p:tex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4-12-03T16:06:32.060">
    <p:pos x="6000" y="0"/>
    <p:text>Do I put the graphs in here?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1b6d696ca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1b6d696ca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19c7a5dca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19c7a5dca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1ba56784c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1ba56784c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1ba56784c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1ba56784c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19c7a5dca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19c7a5dca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1b610af1d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1b610af1d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1b610af1d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1b610af1d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1b610af1d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1b610af1d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1b610af1d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1b610af1d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1b610af1d9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1b610af1d9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1b610af1d9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1b610af1d9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19c7a5dcae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19c7a5dca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1b6d696ca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1b6d696ca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comments" Target="../comments/comment1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comments" Target="../comments/comment2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comments" Target="../comments/comment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INDIA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WRITE WHAT YOU WANT TO HAVE IN YOUR SLIDE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Agenda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Two suggested sections need to be included - requirement by the teacher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Aim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Analyse and understand the economic (under-)performance of India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Historical Context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100">
                <a:solidFill>
                  <a:schemeClr val="dk1"/>
                </a:solidFill>
              </a:rPr>
              <a:t>Pre-Colonial India: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it" sz="1100">
                <a:solidFill>
                  <a:schemeClr val="dk1"/>
                </a:solidFill>
              </a:rPr>
              <a:t>Thriving economy with robust textile, artisanal, and commercial industries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it" sz="1100">
                <a:solidFill>
                  <a:schemeClr val="dk1"/>
                </a:solidFill>
              </a:rPr>
              <a:t>Rich tradition of knowledge, innovation, and skilled labor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it" sz="1100">
                <a:solidFill>
                  <a:schemeClr val="dk1"/>
                </a:solidFill>
              </a:rPr>
              <a:t>Regional markets supported by courts, armies, and patronage systems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 sz="1100">
                <a:solidFill>
                  <a:schemeClr val="dk1"/>
                </a:solidFill>
              </a:rPr>
              <a:t>Entry of British Rule: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100">
                <a:solidFill>
                  <a:schemeClr val="dk1"/>
                </a:solidFill>
              </a:rPr>
              <a:t>→ </a:t>
            </a:r>
            <a:r>
              <a:rPr lang="it" sz="1100">
                <a:solidFill>
                  <a:schemeClr val="dk1"/>
                </a:solidFill>
              </a:rPr>
              <a:t>during first Industrial Revolution (1760 - 1830)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it" sz="1100">
                <a:solidFill>
                  <a:schemeClr val="dk1"/>
                </a:solidFill>
              </a:rPr>
              <a:t>British East India Company initially focused on trade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it" sz="1100">
                <a:solidFill>
                  <a:schemeClr val="dk1"/>
                </a:solidFill>
              </a:rPr>
              <a:t>Transitioned to imperial rule under the British Crown by late 18th century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it" sz="1100">
                <a:solidFill>
                  <a:schemeClr val="dk1"/>
                </a:solidFill>
              </a:rPr>
              <a:t>Revenue-focused governance: territories treated as financial assets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Historical Context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solidFill>
                  <a:schemeClr val="dk1"/>
                </a:solidFill>
              </a:rPr>
              <a:t>How 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it" sz="1100">
                <a:solidFill>
                  <a:schemeClr val="dk1"/>
                </a:solidFill>
              </a:rPr>
              <a:t>Restructured India’s economy for British benefit: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it" sz="1100">
                <a:solidFill>
                  <a:schemeClr val="dk1"/>
                </a:solidFill>
              </a:rPr>
              <a:t>Extracted raw materials, suppressed local industries, and caused deindustrialization</a:t>
            </a:r>
            <a:endParaRPr b="1" sz="11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it" sz="1100">
                <a:solidFill>
                  <a:schemeClr val="dk1"/>
                </a:solidFill>
              </a:rPr>
              <a:t>Built infrastructure (railways, ports) for resource extraction, not development</a:t>
            </a:r>
            <a:endParaRPr b="1"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it" sz="1100">
                <a:solidFill>
                  <a:schemeClr val="dk1"/>
                </a:solidFill>
              </a:rPr>
              <a:t>Neglected welfare, worsening famines and poverty</a:t>
            </a:r>
            <a:endParaRPr b="1"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it" sz="1100">
                <a:solidFill>
                  <a:schemeClr val="dk1"/>
                </a:solidFill>
              </a:rPr>
              <a:t>Disrupted traditional industries and entrenched economic dependence.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Indias economic performance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9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UNDERDEVELOPMENT - drain theory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373525"/>
            <a:ext cx="8520600" cy="35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DRAIN THEORY by Dadabhai Naoroji</a:t>
            </a:r>
            <a:br>
              <a:rPr lang="it"/>
            </a:br>
            <a:r>
              <a:rPr lang="it"/>
              <a:t>DRAINAGE of WEALTH  from HIGH TAXES that led NO BENEFIT FOR INDIA: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it"/>
              <a:t>payments of excessive salaries to British officers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/>
              <a:t>payment of excessive pensions for retired british </a:t>
            </a:r>
            <a:r>
              <a:rPr lang="it"/>
              <a:t>personnel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/>
              <a:t>financing wars, also with soldiers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/>
              <a:t>drainage of resources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76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UNDERDEVELOPMENT - drain theory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373525"/>
            <a:ext cx="8520600" cy="351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DRAINAGE OF GOODS from </a:t>
            </a:r>
            <a:br>
              <a:rPr lang="it"/>
            </a:br>
            <a:r>
              <a:rPr lang="it"/>
              <a:t>TRADE POLICIES: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it"/>
              <a:t>India had no protectionism: forced imports of British manufactured goods </a:t>
            </a:r>
            <a:br>
              <a:rPr lang="it"/>
            </a:br>
            <a:r>
              <a:rPr lang="it"/>
              <a:t>=&gt; crush of national industries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/>
              <a:t>Strong exports of indian production: exports increased by 500% btw 1970 and 1914</a:t>
            </a:r>
            <a:br>
              <a:rPr lang="it"/>
            </a:br>
            <a:r>
              <a:rPr lang="it"/>
              <a:t>*70-80% of those exports were non manufactured goods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=&gt; ⅔ of population employed in agriculture and no industrial development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idx="1" type="body"/>
          </p:nvPr>
        </p:nvSpPr>
        <p:spPr>
          <a:xfrm>
            <a:off x="311700" y="1373525"/>
            <a:ext cx="8520600" cy="351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INFRASTRUCTURE INVESTMENT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INVESTED IN INFRASTRCUTRE: railways and  telegraphs,</a:t>
            </a:r>
            <a:br>
              <a:rPr lang="it"/>
            </a:br>
            <a:r>
              <a:rPr lang="it"/>
              <a:t>BUT not </a:t>
            </a:r>
            <a:r>
              <a:rPr lang="it"/>
              <a:t>useful</a:t>
            </a:r>
            <a:r>
              <a:rPr lang="it"/>
              <a:t> for industrialization and development</a:t>
            </a:r>
            <a:br>
              <a:rPr lang="it"/>
            </a:br>
            <a:br>
              <a:rPr lang="it"/>
            </a:br>
            <a:r>
              <a:rPr lang="it"/>
              <a:t>WHY?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Were made to: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it"/>
              <a:t>facilitate transport of materials to ports for exportation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/>
              <a:t>to increase military mobility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And not for internal trade and development</a:t>
            </a:r>
            <a:endParaRPr/>
          </a:p>
        </p:txBody>
      </p:sp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76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UNDERDEVELOPMENT - drain theory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idx="1" type="body"/>
          </p:nvPr>
        </p:nvSpPr>
        <p:spPr>
          <a:xfrm>
            <a:off x="311700" y="1373525"/>
            <a:ext cx="8520600" cy="351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LIMITS TO DRAINAGE THEORY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Drainage theory implies that Idia is underdeveloped is because:</a:t>
            </a:r>
            <a:endParaRPr/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it"/>
              <a:t>There were too high taxes 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it"/>
              <a:t>Collected money was wasted on salaries and pensions and not invested enough to foster development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it"/>
              <a:t>Outflow of wealth </a:t>
            </a:r>
            <a:r>
              <a:rPr lang="it"/>
              <a:t>impoverished locals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C</a:t>
            </a:r>
            <a:r>
              <a:rPr lang="it"/>
              <a:t>RITIQUES:</a:t>
            </a:r>
            <a:endParaRPr/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it"/>
              <a:t>actual outflow of wealth was modest relative to India's GDP, estimated at approximately 1.5%</a:t>
            </a:r>
            <a:endParaRPr/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Times New Roman"/>
              <a:buChar char="-"/>
            </a:pPr>
            <a:r>
              <a:rPr lang="it"/>
              <a:t>overpayment of salaries amounted to 0.03%</a:t>
            </a:r>
            <a:endParaRPr/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Times New Roman"/>
              <a:buChar char="-"/>
            </a:pPr>
            <a:r>
              <a:rPr lang="it"/>
              <a:t>British did not impose too high taxes on Indian peasants but they rather secured capital in London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it"/>
              <a:t>Due to political complexities, even if Britain wanted to invest more in India it was not a trivial task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2"/>
          <p:cNvSpPr txBox="1"/>
          <p:nvPr>
            <p:ph type="title"/>
          </p:nvPr>
        </p:nvSpPr>
        <p:spPr>
          <a:xfrm>
            <a:off x="311700" y="445025"/>
            <a:ext cx="8520600" cy="76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UNDERDEVELOPMENT - drain theory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11700" y="445025"/>
            <a:ext cx="8520600" cy="76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UNDERDEVELOPMENT - structural reasons</a:t>
            </a:r>
            <a:endParaRPr/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1373525"/>
            <a:ext cx="8520600" cy="351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Monopolism of britain + dismantlement of </a:t>
            </a:r>
            <a:r>
              <a:rPr lang="it"/>
              <a:t>regional institutions =&gt; collapse of internal demand for traditional goods =&gt; deindustrialization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Lack of efficient policies to address famines =&gt; frequent event =&gt; kept population in poverty</a:t>
            </a:r>
            <a:br>
              <a:rPr lang="it"/>
            </a:br>
            <a:r>
              <a:rPr lang="it"/>
              <a:t>*</a:t>
            </a:r>
            <a:r>
              <a:rPr lang="it" sz="1100">
                <a:solidFill>
                  <a:srgbClr val="2021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15 million people in India died from 1850 to 1899 in 24 major famines; which is more than in any other 50-year period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INDIA WITHOUT BRITAIN</a:t>
            </a:r>
            <a:endParaRPr/>
          </a:p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Would India have developed? The answer is difficult. Let’s first examine before and after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BEFORE BRITISH COLONISATION:</a:t>
            </a:r>
            <a:endParaRPr/>
          </a:p>
          <a:p>
            <a:pPr indent="-30861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it"/>
              <a:t>thriving economy with significant commercial, textile and artisanal industries 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it"/>
              <a:t>India was relevant in commerce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it"/>
              <a:t>robust internal demand for goods and services, fueled by regional courts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it"/>
              <a:t>skilled labour force and scientific knowledge, stored in libraries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AFTER BRITISH COLONISATION:</a:t>
            </a:r>
            <a:endParaRPr/>
          </a:p>
          <a:p>
            <a:pPr indent="-30861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it"/>
              <a:t>majority of libraries destroyed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it"/>
              <a:t>unfair competition and dismantlement of courts killed demand =&gt; deindustrialization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it"/>
              <a:t>skilled workers were stimulated to leave India and go work in Britain 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it"/>
              <a:t>population had </a:t>
            </a:r>
            <a:r>
              <a:rPr lang="it"/>
              <a:t>become</a:t>
            </a:r>
            <a:r>
              <a:rPr lang="it"/>
              <a:t> dependent on agriculture also due to famines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it"/>
              <a:t>infrastructure benefitted Britain but those benefits did not spread to locals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COMPARISON</a:t>
            </a:r>
            <a:endParaRPr/>
          </a:p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CONCLUSION</a:t>
            </a:r>
            <a:endParaRPr/>
          </a:p>
        </p:txBody>
      </p:sp>
      <p:sp>
        <p:nvSpPr>
          <p:cNvPr id="133" name="Google Shape;133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chemeClr val="dk1"/>
                </a:solidFill>
              </a:rPr>
              <a:t>Why was India still being underdeveloped two centuries after the start of the first industrial revolution?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it" sz="1400">
                <a:solidFill>
                  <a:schemeClr val="dk1"/>
                </a:solidFill>
              </a:rPr>
              <a:t>Britans contributions were </a:t>
            </a:r>
            <a:r>
              <a:rPr lang="it" sz="1400">
                <a:solidFill>
                  <a:schemeClr val="dk1"/>
                </a:solidFill>
              </a:rPr>
              <a:t>aimed at serving their  economic interests rather than fostering India's development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it" sz="1400">
                <a:solidFill>
                  <a:schemeClr val="dk1"/>
                </a:solidFill>
              </a:rPr>
              <a:t>drain of wealth, systematic deindustrialisation, and the prioritisation of British imports over local industries weakened India's economy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it" sz="1400">
                <a:solidFill>
                  <a:schemeClr val="dk1"/>
                </a:solidFill>
              </a:rPr>
              <a:t>neglect of India's social and economic development entrenched poverty and underdevelopment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