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layfair Display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Oswal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font" Target="fonts/PlayfairDisplay-regular.fntdata"/><Relationship Id="rId11" Type="http://schemas.openxmlformats.org/officeDocument/2006/relationships/slide" Target="slides/slide6.xml"/><Relationship Id="rId33" Type="http://schemas.openxmlformats.org/officeDocument/2006/relationships/font" Target="fonts/PlayfairDisplay-boldItalic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bold.fntdata"/><Relationship Id="rId12" Type="http://schemas.openxmlformats.org/officeDocument/2006/relationships/slide" Target="slides/slide7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2.xml"/><Relationship Id="rId39" Type="http://schemas.openxmlformats.org/officeDocument/2006/relationships/font" Target="fonts/Oswald-bold.fntdata"/><Relationship Id="rId16" Type="http://schemas.openxmlformats.org/officeDocument/2006/relationships/slide" Target="slides/slide11.xml"/><Relationship Id="rId38" Type="http://schemas.openxmlformats.org/officeDocument/2006/relationships/font" Target="fonts/Oswa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8916b373fd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8916b373f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4fd1dfec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4fd1dfec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916b373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916b373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916b373f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916b373f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916b373fd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916b373fd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916b373f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8916b373f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916b373f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916b373f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916b373f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916b373f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057b1e5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9057b1e5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9057b1e5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9057b1e5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4fcc12a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4fcc12a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fcc12ad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4fcc12ad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4fd1dfec9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4fd1dfec9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fd1dfec9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4fd1dfec9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9057b1e5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9057b1e5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09a1432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09a1432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916b373f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8916b373f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4fd1dfec9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4fd1dfec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fd1dfec9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4fd1dfec9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4fd1dfec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4fd1dfec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4fd1dfec9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4fd1dfec9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4fd1dfec9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4fd1dfec9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4fd1dfec9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4fd1dfec9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GRAFICI CREATI + codice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COUNTRY </a:t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POPULATION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SCALETTA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Spain table of population slide 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Spain average rate of variation population 2013-22 slide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Indexing with mobile base of change of population 2013-2022 slide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Population by age chart slide 8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Pasta values retail slide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Pasta volumes spain slide 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Average Retail Price slide 14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Unemployment slide 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SPAIN table of population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6344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11700" y="2965075"/>
            <a:ext cx="85206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get_eurostat("</a:t>
            </a:r>
            <a:r>
              <a:rPr lang="it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tps00001</a:t>
            </a: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", time_format = "num") |&gt;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filter(geo=="ES" &amp; time&lt;=time_range[2] &amp; time&gt;=time_range[1]) |&gt;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mutate(values_MIL=round(values/1000000,3)) |&gt;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pivot_wider(c(-values,-indic_de,-geo),names_from ="time", values_from ="values_MIL")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SPAIN Average rate of variation population 2013 -2022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16097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11700" y="3453400"/>
            <a:ext cx="8356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pop&lt;-get_eurostat("tps00001",time_format="num")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((pop |&gt; filter(geo=="ES" &amp; time==2022) |&gt; pull(values)/pop |&gt; filter(geo=="ES" &amp; time==2013) |&gt; pull(values))^(1/9)-1)*10</a:t>
            </a: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INDEXING with mobile base of change of population 2013-2022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42962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pop1&lt;-get_eurostat("tps00001",time_format="num")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pop1|&gt;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  filter(time&gt;=2013 &amp; time&lt;=2022 &amp; geo=="ES") |&gt;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  mutate(values_lead=lead(values)) |&gt;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  mutate(Index=round((values/values_lead)*100,3)) |&gt;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  select(time,values,Index)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POPULATION BY AGE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25" y="1201300"/>
            <a:ext cx="8567325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580475" y="181150"/>
            <a:ext cx="8194200" cy="4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get_eurostat("tps00010", time_format = "num") |&gt;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filter(geo=="ES" &amp; time&lt;=time_range[2] &amp; time&gt;=time_range[1]) |&gt;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ggplot(aes(x=time,y=values,fill=indic_de))+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geom_col(colour="black",alpha=.6,width=1)+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geom_text(aes(x=time, y=values, label=paste(values,"%",sep="")),position = position_stack(vjust = 0.5),size=3)+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scale_x_continuous(breaks=time_range[1]:time_range[2],minor_breaks=time_range[1]:time_range[2])+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theme_bw()+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scale_fill_brewer(palette = "Set3")+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labs(title="Population by age cohort",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x = "Year",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y = "%",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fill="",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caption="Eurostat (tps00010/tps00001)")+ # labels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theme(legend.position="right",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 legend.text=element_text(size=6),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 legend.key.size = unit(.5, "cm"),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 axis.text=element_text(size=8),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 axis.title=element_text(size=14,face="bold"),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       axis.text.x = element_text(angle = 45, hjust = 1, size=8))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PASTA VALUES RETAIL 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13543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86200"/>
            <a:ext cx="8520600" cy="72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d_con_1 &lt;- read_csv2("passport_retailvalues_spain_real.csv")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colnames(d_con_1)[3] = "Data_type"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d_con_2 &lt;- d_con_1 |&gt; filter(!row_number() %in% c(1:2)) |&gt; filter(Category!="Frozen Noodles" &amp; Category!="Instant Noodles" &amp; Category!="Plain Noodles" &amp; Category!= "Instant Noodle Cups" &amp; Category!= "Instant Noodle Pouches" &amp; Category != "Chilled Noodles" &amp; Category != "Chilled Pasta" &amp; Category!= "Dried Pasta") 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d_con_&lt;- d_con_2|&gt;filter(Data_type!="Total Volume")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d_con &lt;- d_con_ |&gt; pivot_longer(names_to="Years", values_to="Retail_Value_RSP", cols = 6:15) |&gt; group_by(Category, Years) |&gt; summarise(Retail_Value_RSP=sum(as.numeric(Retail_Value_RSP))) 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index&lt;- d_con |&gt; mutate(values_lead=lead(Retail_Value_RSP)) |&gt; mutate(Index=round(values_lead/Retail_Value_RSP*100,2)) 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t &lt;- data.frame(Years=as.character(2014:2022), Index=index$Index[1:9])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t1 &lt;- data.frame(Years=as.character(2013), Index=100)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d_con_index &lt;- rbind(t1,t)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pasta_values &lt;- d_con |&gt; ggplot(aes_string(x='Years', y='Retail_Value_RSP', fill="Years")) + geom_col() + labs(title="Pasta: Values in Spain",subtitle="With absolute values and mobile base index",y = "Euro (Mil.)",x= "Year",fill="Retail_Value_RSP",caption="Source: Passport/Euromonitor")+ # labels theme(legend.position="right",axis.text=element_text(size=8),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axis.title=element_text(size=14,face="bold"), axis.text.x = element_text(angle = 45, hjust = 1,size=8)) + geom_text(aes(x=Years, y=Retail_Value_RSP, label=Retail_Value_RSP), position = position_stack(vjust = 0.5), size=3)+ theme_bw() + geom_text(data=d_con_index, aes(x=Years, y=Index, label=Index), size=3) + scale_fill_brewer(palette="Set3")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125">
                <a:latin typeface="Courier New"/>
                <a:ea typeface="Courier New"/>
                <a:cs typeface="Courier New"/>
                <a:sym typeface="Courier New"/>
              </a:rPr>
              <a:t>pasta_values</a:t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125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PASTA VOLUMES Spain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71469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259750" y="367325"/>
            <a:ext cx="9062700" cy="4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d_vol_g &lt;- read_delim("Passport_Stats_vol.csv") |&gt; filter(!row_number() %in% c(5:10)) |&gt; select(-c(15:21))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d_vol_g2 &lt;- d_vol_g |&gt;  pivot_longer(names_to = "Year", values_to="Volume", 5:14)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colnames(d_vol_g2)[3]="Data_Type"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d_vol_g2_tot &lt;- d_vol_g2 |&gt; group_by(Data_Type, Year) |&gt; summarise(Total=sum(Volume))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d_vol_g2_tot |&gt; ggplot(aes(x=as.integer(Year), y=as.integer(Total), label=round(Total,1), fill=Data_Type)) + geom_col(aes(colour=Data_Type), colour="black", alpha=.8)+ scale_fill_brewer(palette="Set3")+  geom_text(aes(x=as.integer(Year), y=Total, label=Total), position = position_stack(vjust = 0.5), size=3)+ theme_bw() +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it" sz="1300">
                <a:latin typeface="Courier New"/>
                <a:ea typeface="Courier New"/>
                <a:cs typeface="Courier New"/>
                <a:sym typeface="Courier New"/>
              </a:rPr>
              <a:t>  labs(title = "Pasta: Volumes", subtitle = "Spain", y="Tonnes ('000)", x= "Year", fill="Volume", caption = "Source: Passport/Euromonitor")+ theme(legend.position="right", axis.text = element_text(size=8), axis.title = element_text(size = 14, face="bold"), axis.text.x = element_text(angle=45, hjust=1,size=8))+ scale_x_continuous(breaks = seq (2013,2022,by=1))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AVERAGE RETAIL PRICE indexed base</a:t>
            </a:r>
            <a:endParaRPr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000" y="1170125"/>
            <a:ext cx="7612859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0" y="0"/>
            <a:ext cx="100992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d_vol &lt;- d_vol_g2_tot |&gt;  group_by(Years) |&gt; summarise(Total=sum(Total))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d_con_years &lt;- d_con |&gt; group_by(Years) |&gt; summarise(Retail_Value_RSP=sum(Retail_Value_RSP))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d_price &lt;- full_join(d_vol, d_con_years) |&gt; mutate(avg_price = ((Retail_Value_RSP*1000)/(Total*100)))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        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dd_p &lt;- d_price |&gt; mutate(Index=round((avg_price/avg_price[Years==2013])*100,2))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dd_p |&gt; ggplot(aes(x=as.numeric(Years), y=Index), label=round(Fixed,1))+geom_line(alpha=.6, size=1)+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geom_point(alpha=1,pch=21,size=15,fill="white")+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geom_hline(yintercept=100,color="blue",linetype=2)+ scale_x_discrete(labels=as.character(dd_p$Years),breaks=dd_p$Years)+scale_y_continuous(breaks=seq(80,160,5),minor_breaks=seq(80,160,1))+ theme_bw()+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labs(title="Pasta: Average Retail Price",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subtitle=paste(time_range[1],"-",time_range[2],", Index (", time_range[1],"=100)",sep=""),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y = "Index",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x= "Year",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color="Country",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caption="Source: Passport/Euromonitor")+ # labels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theme(legend.position="right",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 axis.text=element_text(size=8),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 axis.title=element_text(size=14,face="bold"),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         axis.text.x = element_text(angle = 45, hjust = 1,size=8))+geom_text(label=dd_p$Index, size=3)+scale_x_continuous(breaks = seq (2013,2022,by=1))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UNEMPLOYMENT</a:t>
            </a:r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679900" cy="425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256550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time_range &lt;- c(2013,2022)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Unemployment &lt;- get_eurostat("tepsr_wc170", time_format = "num")|&gt;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filter(geo=="ES" &amp; time&gt;=time_range[1] &amp; time&lt;=time_range[2]&amp; age!="Y15-74")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ggplot(data= Unemployment, aes(x=time, y=values, fill=age))+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geom_col(colour="black", alpha=.5, position = position_dodge(.9))+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scale_x_continuous(breaks = time_range[1]:time_range[2], minor_breaks = time_range[1]:time_range[2])+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theme_bw()+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scale_fill_brewer(palette="Set2")+</a:t>
            </a:r>
            <a:endParaRPr sz="5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5600">
                <a:latin typeface="Courier New"/>
                <a:ea typeface="Courier New"/>
                <a:cs typeface="Courier New"/>
                <a:sym typeface="Courier New"/>
              </a:rPr>
              <a:t>  labs(title="Unemployment Rate", subtitle = "Overall", y= "%", x="Year (2013-2022)", fill="value", caption="Eurostat (tepsr_wc170)")+ theme(legend.position = "right", axis.text = element_text(size=8),legend.text=element_text(size=7), legend.key.size = unit(.5, "cm"),axis.title = element_text(size=14, face="bold"),axis.text.x = element_text(angle=45, hjust = 1, size=8))</a:t>
            </a:r>
            <a:r>
              <a:rPr lang="it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DEMAND</a:t>
            </a:r>
            <a:endParaRPr/>
          </a:p>
        </p:txBody>
      </p:sp>
      <p:sp>
        <p:nvSpPr>
          <p:cNvPr id="156" name="Google Shape;156;p30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SUPPLY AND DEMAND</a:t>
            </a:r>
            <a:endParaRPr/>
          </a:p>
        </p:txBody>
      </p:sp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35425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259950" y="7681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dd_p |&gt;  ggplot(aes(x=Total_Volume, y=avg_price, colour=Years)) + geom_point(alpha=1,pch=21,size=15,fill="white") + theme_bw() + geom_text(label=dd_p$Years,size=3) + geom_point(shape=4, size=20) + scale_fill_brewer() + 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theme( legend.position="none",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  axis.text=element_text(size=8),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       axis.title=element_text(size=14,face="bold"),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       axis.text.x = element_text(angle = 45, hjust = 1,size=8))+ labs(title="Pasta: Demand and Supply", y = "Average Price",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      x= "Year",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688"/>
              <a:buFont typeface="Arial"/>
              <a:buNone/>
            </a:pPr>
            <a:r>
              <a:rPr lang="it" sz="1425">
                <a:latin typeface="Courier New"/>
                <a:ea typeface="Courier New"/>
                <a:cs typeface="Courier New"/>
                <a:sym typeface="Courier New"/>
              </a:rPr>
              <a:t>         caption="Source: Passport/Euromonitor") </a:t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25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AVERAGE PRICE CHANGE AND TOTAL DEMAND CHANGE</a:t>
            </a:r>
            <a:endParaRPr/>
          </a:p>
        </p:txBody>
      </p:sp>
      <p:pic>
        <p:nvPicPr>
          <p:cNvPr id="173" name="Google Shape;1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38808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311700" y="302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d_pd_1 &lt;- read_csv2("passport_retailvalues_spain_real.csv")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view(d_pd_1)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d_pd_1&lt;-d_pd_1 |&gt; filter(Category!="Chilled Noodles" &amp; Category!="Frozen Noodles" &amp; Category!="Plain Noodles" &amp; Category!="Chilled Pasta" &amp; Category!="Dried Pasta" &amp; Category!="Instant Noodles" &amp; Category!="Instant Noodle Cups" &amp; Category !="Instant Noodle Pouches") |&gt; filter(!row_number() %in% c(1:2))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colnames(d_pd_1)[3] = "Data_type"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d_pdv_2&lt;- d_pd_1|&gt;filter(Data_type!="Retail Value RSP")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d_pdv &lt;- d_pdv_2 |&gt; pivot_longer(names_to="Years", values_to="Total_Volume", cols = 6:15)|&gt; select(-c(1,)) |&gt; select(-c(2:4))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d_pdv$Total_Volume &lt;- as.numeric(gsub('.','',d_pdv$Total_Volume, fixed=TRUE))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311700" y="126300"/>
            <a:ext cx="86664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d_pdp_2&lt;- d_pd_1|&gt;filter(Data_type!="Total Volume")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d_pdp &lt;- d_pdp_2 |&gt; pivot_longer(names_to="Years", values_to="Retail_Value_RSP", cols = 6:15)|&gt; select(-c(1,)) |&gt; select(-c(2:4))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d_pdp$Retail_Value_RSP &lt;- as.numeric(gsub('.','',d_pdp$Retail_Value_RSP, fixed=TRUE))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d_pricebycategory &lt;- full_join(d_pdv, d_pdp) |&gt; mutate(avg_price = Retail_Value_RSP/Total_Volume)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d_indexbycategory &lt;-  d_pricebycategory |&gt; group_by(Category)|&gt; mutate(Index=as.numeric(round((avg_price/avg_price[Years==2013])*100,2)))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it" sz="1400">
                <a:latin typeface="Courier New"/>
                <a:ea typeface="Courier New"/>
                <a:cs typeface="Courier New"/>
                <a:sym typeface="Courier New"/>
              </a:rPr>
              <a:t>d_volpasta &lt;- d_pd_1 |&gt; filter(Category=="Pasta")  |&gt;  pivot_longer(names_to="Years", values_to="Total_Volume", cols = 6:15) |&gt; filter(Data_type=="Total Volume") |&gt; select(-c(1:5))|&gt; mutate(Total_Volume=as.numeric(Total_Volume)) |&gt; mutate(Index=as.numeric(round((Total_Volume/Total_Volume[Years==2013])*100,2))) 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t/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idx="1" type="body"/>
          </p:nvPr>
        </p:nvSpPr>
        <p:spPr>
          <a:xfrm>
            <a:off x="435925" y="4368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gg &lt;- d_indexbycategory|&gt; ggplot() + geom_line((aes(x=as.numeric(Years), y=Index, group=Category, color=Category))) + geom_point(aes(x=as.numeric(Years), y=Index),alpha=.5,pch=21,size=12,fill="white") + geom_text(data=d_indexbycategory, aes(x=as.numeric(Years), y=Index), label=d_indexbycategory$Index, size=3, colour="black")+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scale_x_continuous(breaks = seq (2013,2022,by=1)) + theme_bw() + geom_hline(yintercept=100,color="blue",linetype=2) +  geom_line(data=d_volpasta, aes(x=as.numeric(Years), y=Index)) + geom_text(data=d_volpasta, aes(x=as.numeric(Years), y=Index), label=d_volpasta$Index, size=3, colour="black") + labs(title="Average prices and Pasta quantity (black line is the quantity demanded of Pasta)",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      subtitle=paste(time_range[1],"-",time_range[2],", Index (", time_range[1],"=100)",sep=""),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       y = "Index",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       x= "Year",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      color="Country",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       caption="Source: Passport/Euromonitor", size=4) + theme(legend.position="bottom", title =element_text(size=9, face='bold')) # labels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gg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440"/>
              <a:buFont typeface="Arial"/>
              <a:buNone/>
            </a:pPr>
            <a:r>
              <a:rPr lang="it" sz="122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22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